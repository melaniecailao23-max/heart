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"/>
  </p:sldMasterIdLst>
  <p:notesMasterIdLst>
    <p:notesMasterId r:id="rId10"/>
  </p:notesMasterIdLst>
  <p:handoutMasterIdLst>
    <p:handoutMasterId r:id="rId11"/>
  </p:handoutMasterIdLst>
  <p:sldIdLst>
    <p:sldId id="256" r:id="rId3"/>
    <p:sldId id="261" r:id="rId4"/>
    <p:sldId id="260" r:id="rId5"/>
    <p:sldId id="263" r:id="rId6"/>
    <p:sldId id="257" r:id="rId7"/>
    <p:sldId id="262" r:id="rId8"/>
    <p:sldId id="25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91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1E4AEA4-8DFA-4A89-87EB-49C32662AFE0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6" autoAdjust="0"/>
    <p:restoredTop sz="94660"/>
  </p:normalViewPr>
  <p:slideViewPr>
    <p:cSldViewPr>
      <p:cViewPr varScale="1">
        <p:scale>
          <a:sx n="99" d="100"/>
          <a:sy n="99" d="100"/>
        </p:scale>
        <p:origin x="504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" Target="slides/slide6.xml" Id="rId8" /><Relationship Type="http://schemas.openxmlformats.org/officeDocument/2006/relationships/viewProps" Target="viewProps.xml" Id="rId13" /><Relationship Type="http://schemas.openxmlformats.org/officeDocument/2006/relationships/slide" Target="slides/slide1.xml" Id="rId3" /><Relationship Type="http://schemas.openxmlformats.org/officeDocument/2006/relationships/slide" Target="slides/slide5.xml" Id="rId7" /><Relationship Type="http://schemas.openxmlformats.org/officeDocument/2006/relationships/presProps" Target="presProps.xml" Id="rId12" /><Relationship Type="http://schemas.openxmlformats.org/officeDocument/2006/relationships/slideMaster" Target="slideMasters/slideMaster1.xml" Id="rId2" /><Relationship Type="http://schemas.openxmlformats.org/officeDocument/2006/relationships/slide" Target="slides/slide4.xml" Id="rId6" /><Relationship Type="http://schemas.openxmlformats.org/officeDocument/2006/relationships/handoutMaster" Target="handoutMasters/handoutMaster1.xml" Id="rId11" /><Relationship Type="http://schemas.openxmlformats.org/officeDocument/2006/relationships/slide" Target="slides/slide3.xml" Id="rId5" /><Relationship Type="http://schemas.openxmlformats.org/officeDocument/2006/relationships/tableStyles" Target="tableStyles.xml" Id="rId15" /><Relationship Type="http://schemas.openxmlformats.org/officeDocument/2006/relationships/notesMaster" Target="notesMasters/notesMaster1.xml" Id="rId10" /><Relationship Type="http://schemas.openxmlformats.org/officeDocument/2006/relationships/slide" Target="slides/slide2.xml" Id="rId4" /><Relationship Type="http://schemas.openxmlformats.org/officeDocument/2006/relationships/slide" Target="slides/slide7.xml" Id="rId9" /><Relationship Type="http://schemas.openxmlformats.org/officeDocument/2006/relationships/theme" Target="theme/theme1.xml" Id="rId14" /><Relationship Type="http://schemas.openxmlformats.org/officeDocument/2006/relationships/customXml" Target="/customXml/item.xml" Id="R034b27339e1743a2" 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3B725B-653D-4166-A8E9-72A38A1847CF}" type="datetimeFigureOut">
              <a:rPr lang="en-US"/>
              <a:t>4/12/2021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861E8E-D392-497B-BB21-122DD7C27CF3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8353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3F64CD-0576-4A9A-BD06-7889D6E60BDC}" type="datetimeFigureOut">
              <a:rPr lang="en-US"/>
              <a:t>4/12/2021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55D449-B875-4B8D-8E66-224D27E54C9A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499799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81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6225" y="1828800"/>
            <a:ext cx="4098175" cy="3177380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26225" y="5181600"/>
            <a:ext cx="4098175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7" name="Picture 6" descr="EKG lin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88688" y="-1"/>
            <a:ext cx="7000137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">
    <p:bg>
      <p:bgPr>
        <a:gradFill flip="none" rotWithShape="1">
          <a:gsLst>
            <a:gs pos="0">
              <a:schemeClr val="accent1"/>
            </a:gs>
            <a:gs pos="100000">
              <a:schemeClr val="accent1">
                <a:lumMod val="75000"/>
              </a:schemeClr>
            </a:gs>
          </a:gsLst>
          <a:lin ang="54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265112" y="228600"/>
            <a:ext cx="116586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/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66800" y="1828800"/>
            <a:ext cx="7772400" cy="3177380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54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5181600"/>
            <a:ext cx="7772400" cy="685800"/>
          </a:xfrm>
        </p:spPr>
        <p:txBody>
          <a:bodyPr>
            <a:normAutofit/>
          </a:bodyPr>
          <a:lstStyle>
            <a:lvl1pPr marL="0" indent="0">
              <a:buNone/>
              <a:defRPr sz="2000" cap="all" baseline="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4"/>
            <a:ext cx="4800600" cy="45751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68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4600" y="1828799"/>
            <a:ext cx="4800600" cy="762000"/>
          </a:xfrm>
        </p:spPr>
        <p:txBody>
          <a:bodyPr anchor="ctr">
            <a:noAutofit/>
          </a:bodyPr>
          <a:lstStyle>
            <a:lvl1pPr marL="0" indent="0">
              <a:buNone/>
              <a:defRPr sz="2400" b="0" cap="none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4600" y="2590799"/>
            <a:ext cx="4800600" cy="3810033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270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457201"/>
            <a:ext cx="5943600" cy="5943600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2699" y="5029200"/>
            <a:ext cx="3932237" cy="1371600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descr="Rectangle"/>
          <p:cNvSpPr/>
          <p:nvPr/>
        </p:nvSpPr>
        <p:spPr>
          <a:xfrm>
            <a:off x="7008812" y="0"/>
            <a:ext cx="5180013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 descr="Rectangle"/>
          <p:cNvSpPr/>
          <p:nvPr/>
        </p:nvSpPr>
        <p:spPr>
          <a:xfrm>
            <a:off x="7255668" y="228600"/>
            <a:ext cx="4686300" cy="6400800"/>
          </a:xfrm>
          <a:prstGeom prst="rect">
            <a:avLst/>
          </a:prstGeom>
          <a:noFill/>
          <a:ln w="15875">
            <a:gradFill flip="none" rotWithShape="1">
              <a:gsLst>
                <a:gs pos="0">
                  <a:schemeClr val="bg1">
                    <a:lumMod val="75000"/>
                  </a:schemeClr>
                </a:gs>
                <a:gs pos="100000">
                  <a:schemeClr val="bg1">
                    <a:lumMod val="95000"/>
                  </a:schemeClr>
                </a:gs>
              </a:gsLst>
              <a:lin ang="2700000" scaled="1"/>
              <a:tileRect/>
            </a:gra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35240" y="3200400"/>
            <a:ext cx="3932237" cy="175260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Picture Placeholder 2" descr="An empty placeholder to add an image. Click on the placeholder and select the image that you wish to add."/>
          <p:cNvSpPr>
            <a:spLocks noGrp="1"/>
          </p:cNvSpPr>
          <p:nvPr>
            <p:ph type="pic" idx="1"/>
          </p:nvPr>
        </p:nvSpPr>
        <p:spPr>
          <a:xfrm>
            <a:off x="1" y="0"/>
            <a:ext cx="7008810" cy="6857999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4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35240" y="5029200"/>
            <a:ext cx="3932237" cy="1374648"/>
          </a:xfrm>
        </p:spPr>
        <p:txBody>
          <a:bodyPr/>
          <a:lstStyle>
            <a:lvl1pPr marL="0" indent="0"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 descr="Rectangle"/>
          <p:cNvSpPr/>
          <p:nvPr/>
        </p:nvSpPr>
        <p:spPr>
          <a:xfrm>
            <a:off x="9982200" y="0"/>
            <a:ext cx="22098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58399" y="457201"/>
            <a:ext cx="2057401" cy="5943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457200"/>
            <a:ext cx="9067800" cy="594359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/>
              <a:t>4/12/2021</a:t>
            </a:fld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D9D9D9"/>
            </a:gs>
            <a:gs pos="100000">
              <a:schemeClr val="bg1"/>
            </a:gs>
          </a:gsLst>
          <a:lin ang="162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ar" descr="Red bar"/>
          <p:cNvSpPr/>
          <p:nvPr/>
        </p:nvSpPr>
        <p:spPr>
          <a:xfrm>
            <a:off x="1" y="1"/>
            <a:ext cx="12188824" cy="1524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99220"/>
            <a:ext cx="10058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799"/>
            <a:ext cx="9144000" cy="45720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6800" y="6481760"/>
            <a:ext cx="78486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67800" y="6465885"/>
            <a:ext cx="10668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4/12/2021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87000" y="6481760"/>
            <a:ext cx="838200" cy="23971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SzPct val="100000"/>
        <a:buFont typeface="Arial" pitchFamily="34" charset="0"/>
        <a:buChar char="▪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8580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68680" indent="-182563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51560" indent="-182880" algn="l" defTabSz="914400" rtl="0" eaLnBrk="1" latinLnBrk="0" hangingPunct="1">
        <a:lnSpc>
          <a:spcPct val="90000"/>
        </a:lnSpc>
        <a:spcBef>
          <a:spcPts val="6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3444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41732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60020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83080" indent="-182880" algn="l" defTabSz="914400" rtl="0" eaLnBrk="1" latinLnBrk="0" hangingPunct="1">
        <a:lnSpc>
          <a:spcPct val="90000"/>
        </a:lnSpc>
        <a:spcBef>
          <a:spcPts val="400"/>
        </a:spcBef>
        <a:buSzPct val="100000"/>
        <a:buFont typeface="Arial" pitchFamily="34" charset="0"/>
        <a:buChar char="▪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VWIdyLnylyAHDEBVgIOFdclX59C9070cgxtJUvl6REpKhOXfI+ik6XOKMsB5yraKqC65HjmFq+P8mVRMYozTkRerXgORgPml-~rcBGz9UZHs/ZIex0RdBXNw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1Z5ymKYVB3cITck4JwmVF0cZ//4tXYCDAftlXDsIXaAPAGk9rk/EIckwLFERk59Kk9VmExJ7/lq0rbIsClO2z23SThqw2P1v-~gTVLz6mUl0kl3CCy69MJ+w==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Know the Warning Signs</a:t>
            </a:r>
          </a:p>
        </p:txBody>
      </p:sp>
      <p:sp>
        <p:nvSpPr>
          <p:cNvPr id="3" name="Subtitle 2" descr="8pRE6ii2hQgQE4bIglU0BLeUlHLNIQfT79f5Cwlt/lwqxgyn8Qyu9Ic/GqFHFrPxpCYNmnuspoSXPqzv7vXGVOcPaZqZlFmw-~OtEXXElFqeTAAeYYhwwbVA==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tx1"/>
                </a:solidFill>
              </a:rPr>
              <a:t>Before it’s too Late!</a:t>
            </a:r>
          </a:p>
        </p:txBody>
      </p:sp>
    </p:spTree>
    <p:extLst>
      <p:ext uri="{BB962C8B-B14F-4D97-AF65-F5344CB8AC3E}">
        <p14:creationId xmlns:p14="http://schemas.microsoft.com/office/powerpoint/2010/main" val="43514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wvCyMPXvFwcA24W3eFLBfEWaf1fkL8lrdSKuja6Z4uxoNh+SBaRkjfdzGZHAymd0cx+Uv2WaVkGbkndan+Z//Gw8I+z/sjcO-~vbqB01q1bqUvtcdOzTmdvw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ozD00TQvyDK60UHvrIOGBeu+YhnOkJ12NvoHKUsOuBEWoL8WTv9/v0Gy5Toy0V25kujKwZHeG36JaaC9Iieqeru0nfpFUObA-~FDtIAgYz6uGdn2zlhzbSUA==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600" b="1" dirty="0"/>
              <a:t>Did You Know?</a:t>
            </a:r>
          </a:p>
        </p:txBody>
      </p:sp>
      <p:sp>
        <p:nvSpPr>
          <p:cNvPr id="6" name="TextBox 5" descr="rnhJ60wadBNmMA8rt1ocmb1UdNghL6k/3/DOM5kddX+SpNzkS3DWsdPeGWSGUFoOZua44LcYU57VJLWEFjDhgZc75EFgyfU4-~Krw5O1ve5yQQJOtHmw6Hpw=="/>
          <p:cNvSpPr txBox="1"/>
          <p:nvPr/>
        </p:nvSpPr>
        <p:spPr>
          <a:xfrm>
            <a:off x="4596713" y="3048000"/>
            <a:ext cx="718299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of heart damage occurs within the first </a:t>
            </a:r>
            <a:r>
              <a:rPr lang="en-US" sz="4400" dirty="0">
                <a:solidFill>
                  <a:schemeClr val="accent1"/>
                </a:solidFill>
              </a:rPr>
              <a:t>two hours </a:t>
            </a:r>
            <a:r>
              <a:rPr lang="en-US" sz="3600" dirty="0"/>
              <a:t>of a hear attack!</a:t>
            </a:r>
          </a:p>
        </p:txBody>
      </p:sp>
      <p:sp>
        <p:nvSpPr>
          <p:cNvPr id="7" name="Rounded Rectangle 3" descr="0AU9KW8DPCC7RFOYZAunQepyRPZeT0n+FtXItS5iKp9uNVsYv/DqOv1ydMxd8m0QhUvlTKByIc8KlqJFPzxU/EC3uRdSbxne-~/7BjimJ1H6FA8jJP4OENeg==">
            <a:extLst>
              <a:ext uri="{FF2B5EF4-FFF2-40B4-BE49-F238E27FC236}">
                <a16:creationId xmlns:a16="http://schemas.microsoft.com/office/drawing/2014/main" id="{308B279F-092A-405B-85EE-BF845AEF2C36}"/>
              </a:ext>
            </a:extLst>
          </p:cNvPr>
          <p:cNvSpPr/>
          <p:nvPr/>
        </p:nvSpPr>
        <p:spPr>
          <a:xfrm>
            <a:off x="990600" y="2133600"/>
            <a:ext cx="3505199" cy="3406966"/>
          </a:xfrm>
          <a:prstGeom prst="roundRect">
            <a:avLst/>
          </a:prstGeom>
          <a:ln/>
          <a:effectLst/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500" dirty="0">
              <a:solidFill>
                <a:schemeClr val="tx1"/>
              </a:solidFill>
            </a:endParaRPr>
          </a:p>
        </p:txBody>
      </p:sp>
      <p:sp>
        <p:nvSpPr>
          <p:cNvPr id="8" name="Rounded Rectangle 3" descr="L1NcrvLH4uLYabCQmPDiRWfzDkGXAmYONoDb8gOBnA/wobLU9TBIwOpTx9gyYFYywHaMBg/Fpq8fzbf60TOmyJBStTiMcG9y-~SLmFXi/NOdaZ/TgJvgggoQ==">
            <a:extLst>
              <a:ext uri="{FF2B5EF4-FFF2-40B4-BE49-F238E27FC236}">
                <a16:creationId xmlns:a16="http://schemas.microsoft.com/office/drawing/2014/main" id="{6FB4A647-9163-43EF-8E65-FD1815EC546B}"/>
              </a:ext>
            </a:extLst>
          </p:cNvPr>
          <p:cNvSpPr/>
          <p:nvPr/>
        </p:nvSpPr>
        <p:spPr>
          <a:xfrm>
            <a:off x="1091514" y="2209800"/>
            <a:ext cx="3505199" cy="3406966"/>
          </a:xfrm>
          <a:prstGeom prst="roundRect">
            <a:avLst/>
          </a:prstGeom>
          <a:gradFill>
            <a:gsLst>
              <a:gs pos="0">
                <a:schemeClr val="tx2">
                  <a:lumMod val="75000"/>
                  <a:lumOff val="25000"/>
                </a:schemeClr>
              </a:gs>
              <a:gs pos="50000">
                <a:schemeClr val="dk1">
                  <a:satMod val="110000"/>
                  <a:lumMod val="100000"/>
                  <a:shade val="100000"/>
                </a:schemeClr>
              </a:gs>
              <a:gs pos="100000">
                <a:schemeClr val="dk1">
                  <a:lumMod val="99000"/>
                  <a:satMod val="120000"/>
                  <a:shade val="78000"/>
                </a:schemeClr>
              </a:gs>
            </a:gsLst>
          </a:gradFill>
          <a:ln/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500" dirty="0">
                <a:solidFill>
                  <a:schemeClr val="bg1"/>
                </a:solidFill>
              </a:rPr>
              <a:t>85%</a:t>
            </a:r>
          </a:p>
        </p:txBody>
      </p:sp>
    </p:spTree>
    <p:extLst>
      <p:ext uri="{BB962C8B-B14F-4D97-AF65-F5344CB8AC3E}">
        <p14:creationId xmlns:p14="http://schemas.microsoft.com/office/powerpoint/2010/main" val="3086449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dir="d"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150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7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8" presetID="2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150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750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500"/>
                            </p:stCondLst>
                            <p:childTnLst>
                              <p:par>
                                <p:cTn id="12" presetID="26" presetClass="emph" presetSubtype="0" fill="hold" grpId="1" nodeType="after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1250" tmFilter="0, 0; .2, .5; .8, .5; 1, 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625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  <p:par>
                                <p:cTn id="15" presetID="26" presetClass="emph" presetSubtype="0" fill="hold" grpId="1" nodeType="withEffect">
                                  <p:stCondLst>
                                    <p:cond delay="1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1250" tmFilter="0, 0; .2, .5; .8, .5; 1, 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7" dur="625" autoRev="1" fill="hold"/>
                                        <p:tgtEl>
                                          <p:spTgt spid="8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8" grpId="0" animBg="1"/>
      <p:bldP spid="8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P3QT94KcBLVf9khUy99i8gmmW4UXKfFD+eSqNkDdUwWYMZM1BLjus//WvxYem8uKrp+O+CYPSNi+GpOuVggm6i9boDqkjlY7-~n7AxD7t4O1aPI3XiGlmNxw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KEp9NgQnGQdC6JGzMRo4SkZOAlsnfcWmBiB6R6/6t46wrgDSp+nl5vx4br0SHmcDN0AXBpNbS3Abnuj/1aUTnQnfS2JU7J7c-~pAbemRYrSRO4bdjImu6/Nw=="/>
          <p:cNvSpPr>
            <a:spLocks noGrp="1"/>
          </p:cNvSpPr>
          <p:nvPr>
            <p:ph type="title"/>
          </p:nvPr>
        </p:nvSpPr>
        <p:spPr>
          <a:xfrm>
            <a:off x="685800" y="152400"/>
            <a:ext cx="10058400" cy="1325563"/>
          </a:xfrm>
        </p:spPr>
        <p:txBody>
          <a:bodyPr>
            <a:normAutofit/>
          </a:bodyPr>
          <a:lstStyle/>
          <a:p>
            <a:r>
              <a:rPr lang="en-US" sz="6000" dirty="0"/>
              <a:t>What are the Risk Factors? </a:t>
            </a:r>
          </a:p>
        </p:txBody>
      </p:sp>
    </p:spTree>
    <p:extLst>
      <p:ext uri="{BB962C8B-B14F-4D97-AF65-F5344CB8AC3E}">
        <p14:creationId xmlns:p14="http://schemas.microsoft.com/office/powerpoint/2010/main" val="154862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vkgAdqODvjJ1NbpgcsU0e+eyt/cYhTdExm5152cj86MXwIoLPh7BVeOTDRs55dDCDksv7RpCirmB/NmHI4eBhJBG2dUlYe7i-~gmt5UKCeJ/T2N6CVq35hZ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mYaM/45rUqUVcVQF7sy25WcucRG4mqa8gmDC4lI6uHPdC7MZmFi7w8CVnpq0DGBaQsO6Tg84oPO/1BF2fApAun1YasJlh+Pf-~IDphhr+5bgDREtxCIlcBKw==">
            <a:extLst>
              <a:ext uri="{FF2B5EF4-FFF2-40B4-BE49-F238E27FC236}">
                <a16:creationId xmlns:a16="http://schemas.microsoft.com/office/drawing/2014/main" id="{D13F1184-3EEE-47AE-908E-E48A86A72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99221"/>
            <a:ext cx="10058400" cy="1272380"/>
          </a:xfrm>
        </p:spPr>
        <p:txBody>
          <a:bodyPr/>
          <a:lstStyle/>
          <a:p>
            <a:r>
              <a:rPr lang="en-US" dirty="0"/>
              <a:t>Coronary Heart Disease</a:t>
            </a:r>
            <a:br>
              <a:rPr lang="en-US" dirty="0"/>
            </a:br>
            <a:r>
              <a:rPr lang="en-US" sz="2400" dirty="0"/>
              <a:t>American </a:t>
            </a:r>
            <a:r>
              <a:rPr lang="en-US" sz="2400"/>
              <a:t>Heart Association Data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3254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LkZwZvr6I90VGTcyMRsjbjx+BDV/zyM7ZrxXKR2qr2M3wgU8L4/Ebb26fE2IOB3UGwFrrDnWTZixYbq6gGzebQB++L9oOiW2-~d8XT8MqvxwmJCb7+DmTvmA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eHjOD30RRKMINxbfF/ynpagfbS+u2qMUzRA9uHWAPOSrL8rwCabW3O8HG++BLp53cvD7kFfzDpuPDOpaktEN/Gzld6ye1Jik-~fiPwdDijs4fcEoV3nX6Wxg=="/>
          <p:cNvSpPr>
            <a:spLocks noGrp="1"/>
          </p:cNvSpPr>
          <p:nvPr>
            <p:ph type="title"/>
          </p:nvPr>
        </p:nvSpPr>
        <p:spPr>
          <a:xfrm>
            <a:off x="2590800" y="2030993"/>
            <a:ext cx="7772400" cy="1424780"/>
          </a:xfrm>
        </p:spPr>
        <p:txBody>
          <a:bodyPr>
            <a:normAutofit/>
          </a:bodyPr>
          <a:lstStyle/>
          <a:p>
            <a:r>
              <a:rPr lang="en-US" sz="8800" dirty="0"/>
              <a:t>Men vs Women</a:t>
            </a:r>
          </a:p>
        </p:txBody>
      </p:sp>
      <p:sp>
        <p:nvSpPr>
          <p:cNvPr id="3" name="Content Placeholder 2" descr="Lh5W1sm5ljWZzUFPkob+lSPjXdnSMkIkXe48G0Gw58TbxuQE4igezRlZLYdBKkpYEegMgDHZ4zS8lIlMEBv4UjUcXBV8ayGp-~X3kd9FG3qrS4m5YAu7Eckw=="/>
          <p:cNvSpPr>
            <a:spLocks noGrp="1"/>
          </p:cNvSpPr>
          <p:nvPr>
            <p:ph type="body" idx="1"/>
          </p:nvPr>
        </p:nvSpPr>
        <p:spPr>
          <a:xfrm>
            <a:off x="2133600" y="3657600"/>
            <a:ext cx="7772400" cy="685800"/>
          </a:xfrm>
        </p:spPr>
        <p:txBody>
          <a:bodyPr/>
          <a:lstStyle/>
          <a:p>
            <a:pPr algn="ctr"/>
            <a:r>
              <a:rPr lang="en-US" sz="4000" cap="none" dirty="0"/>
              <a:t>What is the difference?</a:t>
            </a:r>
          </a:p>
          <a:p>
            <a:endParaRPr lang="en-US" dirty="0"/>
          </a:p>
        </p:txBody>
      </p:sp>
      <p:cxnSp>
        <p:nvCxnSpPr>
          <p:cNvPr id="7" name="Straight Connector 6" descr="yHqv5FQIbE+Wj3MX553nyu6UeT7xJS8/bqjUGRNxyHdT5Hp1Jzpf3qbSfTWfJIKhto24IqtErdDldcHcPHwenttmg2TQcFX4-~asVCu/HHVBHcsBroPdPAlg==">
            <a:extLst>
              <a:ext uri="{FF2B5EF4-FFF2-40B4-BE49-F238E27FC236}">
                <a16:creationId xmlns:a16="http://schemas.microsoft.com/office/drawing/2014/main" id="{FBB6C63E-46C5-4F40-B183-DA0369342161}"/>
              </a:ext>
            </a:extLst>
          </p:cNvPr>
          <p:cNvCxnSpPr/>
          <p:nvPr/>
        </p:nvCxnSpPr>
        <p:spPr>
          <a:xfrm>
            <a:off x="838200" y="3480487"/>
            <a:ext cx="10134600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6426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n840mhdHiNEpaC//d7KdcIHZxM38pwqqDM0FQPrSr4pg4e5N+XeBX1xeZR9g6rHOu7FWGtr8mWakId90suilnBEqPDZb8Xwk-~DMj2RpydKKViu0WEqj/W/A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 descr="pmn9g5fDxDK3pS6LlM2RPFDE9X7UEKAcP89pwre61O94UmTniw6dqbzwkf9KLp2rPFmogEPQPWHHAVW4ou8E+XpGdxNp5nKq-~qzZHf/ImQyGoGVMuVLXjlA==">
            <a:extLst>
              <a:ext uri="{FF2B5EF4-FFF2-40B4-BE49-F238E27FC236}">
                <a16:creationId xmlns:a16="http://schemas.microsoft.com/office/drawing/2014/main" id="{37D2E7EA-A6D0-4B38-B423-28A54005A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/>
              <a:t>Heart Attack Warning Signs</a:t>
            </a:r>
          </a:p>
        </p:txBody>
      </p:sp>
      <p:sp>
        <p:nvSpPr>
          <p:cNvPr id="8" name="Content Placeholder 7" descr="JtcbePLvA4H1nGECpD2uLWW4dLhwGeFbFueym1eWFruEEthq9n6lCIQw773xExMGbv+Mv8csJyHskrXYoTVr0MuNtSfcdb3w-~cIH9kYqC4G1dfG4dVxplmQ==">
            <a:extLst>
              <a:ext uri="{FF2B5EF4-FFF2-40B4-BE49-F238E27FC236}">
                <a16:creationId xmlns:a16="http://schemas.microsoft.com/office/drawing/2014/main" id="{733251B6-CDF8-43E3-97D0-46155B90C3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5293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 descr="Zi8SR05obnN8LCyMmM/PncGi0fuffN3CvvHCuMDiez/OOBrgxh5O3WNLztu7CfPgemKNlouPBNVZw3WMXSDtZDdyHjlbfkpn-~CplvzKLw1S2JXhmgRyT9ZQ==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 descr="VmKmJWWmZgcDjdEGjkgfTEOcRPkJ13hqlf9QwJ5wRTwokwz0s2swrDh4S/97ZulW/upPS635LgKwNeQzB8rLjFh/myyIgZnT-~K7NbqqkDhO+RjlC3KN3oLA=="/>
          <p:cNvSpPr>
            <a:spLocks noGrp="1"/>
          </p:cNvSpPr>
          <p:nvPr>
            <p:ph type="title"/>
          </p:nvPr>
        </p:nvSpPr>
        <p:spPr>
          <a:xfrm>
            <a:off x="762000" y="152400"/>
            <a:ext cx="10058400" cy="1325563"/>
          </a:xfrm>
        </p:spPr>
        <p:txBody>
          <a:bodyPr>
            <a:normAutofit/>
          </a:bodyPr>
          <a:lstStyle/>
          <a:p>
            <a:r>
              <a:rPr lang="en-US" sz="6600" dirty="0"/>
              <a:t>Why Does it Matter?</a:t>
            </a:r>
          </a:p>
        </p:txBody>
      </p:sp>
      <p:sp>
        <p:nvSpPr>
          <p:cNvPr id="5" name="Content Placeholder 4" descr="plVz+02KIhirRpXbp9O0HO3yYAsQQ2o+IRFQJG4RE3F8RpWuTNQtOfUhD0lq6sOnCYd4oPRswPGpFZoC9uy1W9FUO0eqKrS0-~67Yvr1K7o0R2Ef2iqsuFbg=="/>
          <p:cNvSpPr>
            <a:spLocks noGrp="1"/>
          </p:cNvSpPr>
          <p:nvPr>
            <p:ph idx="1"/>
          </p:nvPr>
        </p:nvSpPr>
        <p:spPr>
          <a:xfrm>
            <a:off x="-1" y="1752600"/>
            <a:ext cx="5088513" cy="51054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4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Women are </a:t>
            </a:r>
            <a:r>
              <a:rPr lang="en-US" sz="48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less likely</a:t>
            </a:r>
            <a:r>
              <a:rPr lang="en-US" sz="4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to seek immediate medical care and are </a:t>
            </a:r>
            <a:r>
              <a:rPr lang="en-US" sz="4800" dirty="0">
                <a:ln w="0"/>
                <a:solidFill>
                  <a:schemeClr val="accent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more likely </a:t>
            </a:r>
            <a:r>
              <a:rPr lang="en-US" sz="4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to </a:t>
            </a:r>
            <a:r>
              <a:rPr lang="en-US" sz="88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die!</a:t>
            </a:r>
            <a:endParaRPr lang="en-US" sz="480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228600" lvl="1" indent="0">
              <a:buNone/>
            </a:pPr>
            <a:endParaRPr lang="en-US" sz="2800" dirty="0"/>
          </a:p>
        </p:txBody>
      </p:sp>
      <p:pic>
        <p:nvPicPr>
          <p:cNvPr id="3" name="Picture 2#@#scgPtAmUo9v6Z+V3BzHuI6805+KUIGIBiBPJp1ahm3ea54lTTC/yAdiRC24mRJpQFXm7oseW/BSgAqEdJ4EAdj2KwO3le23/-~JMlDvtSWSsslfj3Oe9I0Yg==" descr="">
            <a:extLst>
              <a:ext uri="{FF2B5EF4-FFF2-40B4-BE49-F238E27FC236}">
                <a16:creationId xmlns:a16="http://schemas.microsoft.com/office/drawing/2014/main" id="{46B493F5-1844-465D-91A4-2B4891078A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513" y="1524000"/>
            <a:ext cx="7117903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68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600">
        <p14:prism isInverted="1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theme/theme1.xml><?xml version="1.0" encoding="utf-8"?>
<a:theme xmlns:a="http://schemas.openxmlformats.org/drawingml/2006/main" name="Medical Design 16x9">
  <a:themeElements>
    <a:clrScheme name="Red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0001141.potx" id="{D7485564-6666-4DDB-B0D3-55F6E694D6E5}" vid="{6E950D30-6FC6-4411-BCFF-468AD9ECA787}"/>
    </a:ext>
  </a:extLst>
</a:theme>
</file>

<file path=ppt/theme/theme2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MedicalHealth">
      <a:dk1>
        <a:sysClr val="windowText" lastClr="000000"/>
      </a:dk1>
      <a:lt1>
        <a:sysClr val="window" lastClr="FFFFFF"/>
      </a:lt1>
      <a:dk2>
        <a:srgbClr val="656367"/>
      </a:dk2>
      <a:lt2>
        <a:srgbClr val="F2F2F2"/>
      </a:lt2>
      <a:accent1>
        <a:srgbClr val="B82D2F"/>
      </a:accent1>
      <a:accent2>
        <a:srgbClr val="333333"/>
      </a:accent2>
      <a:accent3>
        <a:srgbClr val="2B4A63"/>
      </a:accent3>
      <a:accent4>
        <a:srgbClr val="445E45"/>
      </a:accent4>
      <a:accent5>
        <a:srgbClr val="5A3A64"/>
      </a:accent5>
      <a:accent6>
        <a:srgbClr val="DB8526"/>
      </a:accent6>
      <a:hlink>
        <a:srgbClr val="164E6E"/>
      </a:hlink>
      <a:folHlink>
        <a:srgbClr val="667F6D"/>
      </a:folHlink>
    </a:clrScheme>
    <a:fontScheme name="Franklin Gothic Medium">
      <a:maj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Medium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700" row="9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141C02F-CE31-4D87-A3BA-12709000A4A7}">
  <we:reference id="wa104178141" version="3.10.0.52" store="en-US" storeType="OMEX"/>
  <we:alternateReferences>
    <we:reference id="wa104178141" version="3.10.0.52" store="en-US" storeType="OMEX"/>
  </we:alternateReferences>
  <we:properties/>
  <we:bindings/>
  <we:snapshot xmlns:r="http://schemas.openxmlformats.org/officeDocument/2006/relationships"/>
</we:webextension>
</file>

<file path=customXml/_rels/item.xml.rels>&#65279;<?xml version="1.0" encoding="utf-8"?><Relationships xmlns="http://schemas.openxmlformats.org/package/2006/relationships"><Relationship Type="http://schemas.openxmlformats.org/officeDocument/2006/relationships/customXmlProps" Target="/customXml/itemProps1.xml" Id="Ra16fbd47205140b9" /></Relationships>
</file>

<file path=customXml/item.xml><?xml version="1.0" encoding="utf-8"?>
<project>
  <id>cLjhEWT2f7tniQPuZFmk05LZtRHgtPOecSlBRI2zomlpc8B2fbWIpHRbU7Spn2oVHUwA6fEbcJz2Wu2f4BJ5AkewXWF6tSVq-~g+TSLdT9zcAVHcJeK/1HFQ==#@#11012702#@#4/13/2021 12:37:26 AM</id>
</project>
</file>

<file path=customXml/itemProps1.xml><?xml version="1.0" encoding="utf-8"?>
<ds:datastoreItem xmlns:ds="http://schemas.openxmlformats.org/officedocument/2006/2/customXml" ds:itemID="{C66AC4F1-97D3-4D10-8D07-51E6CC79AD91}">
  <ds:schemaRefs>
    <ds:schemaRef ds:uri="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Medical design presentation (widescreen)</Template>
  <TotalTime>573</TotalTime>
  <Words>76</Words>
  <Application>Microsoft Office PowerPoint</Application>
  <PresentationFormat>Widescreen</PresentationFormat>
  <Paragraphs>12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Franklin Gothic Medium</vt:lpstr>
      <vt:lpstr>Medical Design 16x9</vt:lpstr>
      <vt:lpstr>Know the Warning Signs</vt:lpstr>
      <vt:lpstr>Did You Know?</vt:lpstr>
      <vt:lpstr>What are the Risk Factors? </vt:lpstr>
      <vt:lpstr>Coronary Heart Disease American Heart Association Data</vt:lpstr>
      <vt:lpstr>Men vs Women</vt:lpstr>
      <vt:lpstr>Heart Attack Warning Signs</vt:lpstr>
      <vt:lpstr>Why Does it Matter?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Layout</dc:title>
  <dc:creator>Exploring Series</dc:creator>
  <cp:lastModifiedBy>Diane Kosharek</cp:lastModifiedBy>
  <cp:revision>24</cp:revision>
  <dcterms:created xsi:type="dcterms:W3CDTF">2018-04-07T16:44:22Z</dcterms:created>
  <dcterms:modified xsi:type="dcterms:W3CDTF">2021-04-13T00:37:26Z</dcterms:modified>
</cp:coreProperties>
</file>
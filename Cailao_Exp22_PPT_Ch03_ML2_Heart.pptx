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Default Extension="xlsx" ContentType="application/vnd.openxmlformats-officedocument.spreadsheetml.sheet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style1.xml" ContentType="application/vnd.openxmlformats-officedocument.drawingml.diagramStyle+xml"/>
  <Override PartName="/ppt/diagrams/layout1.xml" ContentType="application/vnd.openxmlformats-officedocument.drawingml.diagramLayoutDefinition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10"/>
  </p:notesMasterIdLst>
  <p:handoutMasterIdLst>
    <p:handoutMasterId r:id="rId11"/>
  </p:handoutMasterIdLst>
  <p:sldIdLst>
    <p:sldId id="256" r:id="rId3"/>
    <p:sldId id="261" r:id="rId4"/>
    <p:sldId id="260" r:id="rId5"/>
    <p:sldId id="263" r:id="rId6"/>
    <p:sldId id="257" r:id="rId7"/>
    <p:sldId id="262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91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99" d="100"/>
          <a:sy n="99" d="100"/>
        </p:scale>
        <p:origin x="504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6.xml" Id="rId8" /><Relationship Type="http://schemas.openxmlformats.org/officeDocument/2006/relationships/viewProps" Target="viewProps.xml" Id="rId13" /><Relationship Type="http://schemas.openxmlformats.org/officeDocument/2006/relationships/slide" Target="slides/slide1.xml" Id="rId3" /><Relationship Type="http://schemas.openxmlformats.org/officeDocument/2006/relationships/slide" Target="slides/slide5.xml" Id="rId7" /><Relationship Type="http://schemas.openxmlformats.org/officeDocument/2006/relationships/presProps" Target="presProps.xml" Id="rId12" /><Relationship Type="http://schemas.openxmlformats.org/officeDocument/2006/relationships/slideMaster" Target="slideMasters/slideMaster1.xml" Id="rId2" /><Relationship Type="http://schemas.openxmlformats.org/officeDocument/2006/relationships/slide" Target="slides/slide4.xml" Id="rId6" /><Relationship Type="http://schemas.openxmlformats.org/officeDocument/2006/relationships/handoutMaster" Target="handoutMasters/handoutMaster1.xml" Id="rId11" /><Relationship Type="http://schemas.openxmlformats.org/officeDocument/2006/relationships/slide" Target="slides/slide3.xml" Id="rId5" /><Relationship Type="http://schemas.openxmlformats.org/officeDocument/2006/relationships/tableStyles" Target="tableStyles.xml" Id="rId15" /><Relationship Type="http://schemas.openxmlformats.org/officeDocument/2006/relationships/notesMaster" Target="notesMasters/notesMaster1.xml" Id="rId10" /><Relationship Type="http://schemas.openxmlformats.org/officeDocument/2006/relationships/slide" Target="slides/slide2.xml" Id="rId4" /><Relationship Type="http://schemas.openxmlformats.org/officeDocument/2006/relationships/slide" Target="slides/slide7.xml" Id="rId9" /><Relationship Type="http://schemas.openxmlformats.org/officeDocument/2006/relationships/theme" Target="theme/theme1.xml" Id="rId14" /><Relationship Type="http://schemas.openxmlformats.org/officeDocument/2006/relationships/customXml" Target="/customXml/item.xml" Id="R034b27339e1743a2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lang="" val=""/>
  <dgm:desc lang="" val=""/>
  <dgm:catLst>
    <dgm:cat type="accent1" pri="11200"/>
  </dgm:catLst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0" type="doc">
      <dgm:prSet/>
      <dgm:spPr/>
      <dgm:t>
        <a:bodyPr/>
        <a:lstStyle/>
        <a:p>
          <a:endParaRPr lang="en-US"/>
        </a:p>
      </dgm:t>
    </dgm:pt>
    <dgm:pt modelId="1">
      <dgm:prSet/>
      <dgm:spPr/>
      <dgm:t>
        <a:bodyPr/>
        <a:lstStyle/>
        <a:p>
          <a:r>
            <a:rPr lang="en-US" dirty="0"/>
            <a:t>Family history of heart disease</a:t>
          </a:r>
        </a:p>
      </dgm:t>
    </dgm:pt>
    <dgm:pt modelId="2">
      <dgm:prSet/>
      <dgm:spPr/>
      <dgm:t>
        <a:bodyPr/>
        <a:lstStyle/>
        <a:p>
          <a:r>
            <a:rPr lang="en-US" dirty="0"/>
            <a:t>High blood pressure</a:t>
          </a:r>
        </a:p>
      </dgm:t>
    </dgm:pt>
    <dgm:pt modelId="3">
      <dgm:prSet/>
      <dgm:spPr/>
      <dgm:t>
        <a:bodyPr/>
        <a:lstStyle/>
        <a:p>
          <a:r>
            <a:rPr lang="en-US" dirty="0"/>
            <a:t>Overweight or obese</a:t>
          </a:r>
        </a:p>
      </dgm:t>
    </dgm:pt>
    <dgm:pt modelId="4">
      <dgm:prSet/>
      <dgm:spPr/>
      <dgm:t>
        <a:bodyPr/>
        <a:lstStyle/>
        <a:p>
          <a:r>
            <a:rPr lang="en-US" dirty="0"/>
            <a:t>Lack of exercise</a:t>
          </a:r>
        </a:p>
      </dgm:t>
    </dgm:pt>
    <dgm:pt modelId="5">
      <dgm:prSet/>
      <dgm:spPr/>
      <dgm:t>
        <a:bodyPr/>
        <a:lstStyle/>
        <a:p>
          <a:r>
            <a:rPr lang="en-US" dirty="0"/>
            <a:t>Use of tobacco products</a:t>
          </a:r>
        </a:p>
      </dgm:t>
    </dgm:pt>
    <dgm:pt modelId="6">
      <dgm:prSet/>
      <dgm:spPr/>
      <dgm:t>
        <a:bodyPr/>
        <a:lstStyle/>
        <a:p>
          <a:r>
            <a:rPr lang="en-US" dirty="0"/>
            <a:t>Diabetes or other diseases</a:t>
          </a:r>
        </a:p>
      </dgm:t>
    </dgm:pt>
    <dgm:pt modelId="7">
      <dgm:prSet/>
      <dgm:spPr/>
      <dgm:t>
        <a:bodyPr/>
        <a:lstStyle/>
        <a:p>
          <a:r>
            <a:rPr lang="en-US" dirty="0"/>
            <a:t>For women, use of birth control pills</a:t>
          </a:r>
        </a:p>
      </dgm:t>
    </dgm:pt>
  </dgm:ptLst>
  <dgm:cxnLst>
    <dgm:cxn modelId="10" srcId="0" destId="1" type="parOf" sibTransId="20"/>
    <dgm:cxn modelId="11" srcId="0" destId="2" type="parOf" sibTransId="21"/>
    <dgm:cxn modelId="12" srcId="0" destId="3" type="parOf" sibTransId="22"/>
    <dgm:cxn modelId="13" srcId="0" destId="4" type="parOf" sibTransId="23"/>
    <dgm:cxn modelId="14" srcId="0" destId="5" type="parOf" sibTransId="24"/>
    <dgm:cxn modelId="15" srcId="0" destId="6" type="parOf" sibTransId="25"/>
    <dgm:cxn modelId="16" srcId="0" destId="7" type="parOf" sibTransId="26"/>
  </dgm:cxnLst>
  <dgm:bg/>
  <dgm:whole/>
</dgm:dataModel>
</file>

<file path=ppt/diagrams/layout1.xml><?xml version="1.0" encoding="utf-8"?>
<dgm:layoutDef xmlns:dgm="http://schemas.openxmlformats.org/drawingml/2006/diagram"/>
</file>

<file path=ppt/diagrams/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lang="" val=""/>
  <dgm:desc lang="" val=""/>
  <dgm:catLst>
    <dgm:cat type="simple" pri="10100"/>
  </dgm:catLst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4/12/2021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4/12/2021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4/12/2021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4/12/2021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4/12/2021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4/12/2021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4/12/2021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4/12/2021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4/12/2021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diagramData" Target="../diagrams/data1.xml" /><Relationship Id="rId3" Type="http://schemas.openxmlformats.org/officeDocument/2006/relationships/diagramColors" Target="../diagrams/colors1.xml" /><Relationship Id="rId4" Type="http://schemas.openxmlformats.org/officeDocument/2006/relationships/diagramStyle" Target="../diagrams/style1.xml" /><Relationship Id="rId5" Type="http://schemas.openxmlformats.org/officeDocument/2006/relationships/diagramLayout" Target="../diagrams/layout1.xml" 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package" Target="../embeddings/Microsoft_Excel_Worksheet1.xlsx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heart.jp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VWIdyLnylyAHDEBVgIOFdclX59C9070cgxtJUvl6REpKhOXfI+ik6XOKMsB5yraKqC65HjmFq+P8mVRMYozTkRerXgORgPml-~rcBGz9UZHs/ZIex0RdBXNw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1Z5ymKYVB3cITck4JwmVF0cZ//4tXYCDAftlXDsIXaAPAGk9rk/EIckwLFERk59Kk9VmExJ7/lq0rbIsClO2z23SThqw2P1v-~gTVLz6mUl0kl3CCy69MJ+w==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Know the Warning Signs</a:t>
            </a:r>
          </a:p>
        </p:txBody>
      </p:sp>
      <p:sp>
        <p:nvSpPr>
          <p:cNvPr id="3" name="Subtitle 2" descr="8pRE6ii2hQgQE4bIglU0BLeUlHLNIQfT79f5Cwlt/lwqxgyn8Qyu9Ic/GqFHFrPxpCYNmnuspoSXPqzv7vXGVOcPaZqZlFmw-~OtEXXElFqeTAAeYYhwwbVA==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Before it’s too Late!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wvCyMPXvFwcA24W3eFLBfEWaf1fkL8lrdSKuja6Z4uxoNh+SBaRkjfdzGZHAymd0cx+Uv2WaVkGbkndan+Z//Gw8I+z/sjcO-~vbqB01q1bqUvtcdOzTmdvw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ozD00TQvyDK60UHvrIOGBeu+YhnOkJ12NvoHKUsOuBEWoL8WTv9/v0Gy5Toy0V25kujKwZHeG36JaaC9Iieqeru0nfpFUObA-~FDtIAgYz6uGdn2zlhzbSUA==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Did You Know?</a:t>
            </a:r>
          </a:p>
        </p:txBody>
      </p:sp>
      <p:sp>
        <p:nvSpPr>
          <p:cNvPr id="6" name="TextBox 5" descr="rnhJ60wadBNmMA8rt1ocmb1UdNghL6k/3/DOM5kddX+SpNzkS3DWsdPeGWSGUFoOZua44LcYU57VJLWEFjDhgZc75EFgyfU4-~Krw5O1ve5yQQJOtHmw6Hpw=="/>
          <p:cNvSpPr txBox="1"/>
          <p:nvPr/>
        </p:nvSpPr>
        <p:spPr>
          <a:xfrm>
            <a:off x="4596713" y="3048000"/>
            <a:ext cx="71829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of heart damage occurs within the first </a:t>
            </a:r>
            <a:r>
              <a:rPr lang="en-US" sz="4400" dirty="0">
                <a:solidFill>
                  <a:schemeClr val="accent1"/>
                </a:solidFill>
              </a:rPr>
              <a:t>two hours </a:t>
            </a:r>
            <a:r>
              <a:rPr lang="en-US" sz="3600" dirty="0"/>
              <a:t>of a hear attack!</a:t>
            </a:r>
          </a:p>
        </p:txBody>
      </p:sp>
      <p:sp>
        <p:nvSpPr>
          <p:cNvPr id="7" name="Rounded Rectangle 3" descr="0AU9KW8DPCC7RFOYZAunQepyRPZeT0n+FtXItS5iKp9uNVsYv/DqOv1ydMxd8m0QhUvlTKByIc8KlqJFPzxU/EC3uRdSbxne-~/7BjimJ1H6FA8jJP4OENeg==">
            <a:extLst>
              <a:ext uri="{FF2B5EF4-FFF2-40B4-BE49-F238E27FC236}">
                <a16:creationId xmlns:a16="http://schemas.microsoft.com/office/drawing/2014/main" id="{308B279F-092A-405B-85EE-BF845AEF2C36}"/>
              </a:ext>
            </a:extLst>
          </p:cNvPr>
          <p:cNvSpPr/>
          <p:nvPr/>
        </p:nvSpPr>
        <p:spPr>
          <a:xfrm>
            <a:off x="990600" y="2133600"/>
            <a:ext cx="3505199" cy="3406966"/>
          </a:xfrm>
          <a:prstGeom prst="roundRect">
            <a:avLst/>
          </a:prstGeom>
          <a:ln/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dirty="0">
              <a:solidFill>
                <a:schemeClr val="tx1"/>
              </a:solidFill>
            </a:endParaRPr>
          </a:p>
        </p:txBody>
      </p:sp>
      <p:sp>
        <p:nvSpPr>
          <p:cNvPr id="8" name="Rounded Rectangle 3" descr="L1NcrvLH4uLYabCQmPDiRWfzDkGXAmYONoDb8gOBnA/wobLU9TBIwOpTx9gyYFYywHaMBg/Fpq8fzbf60TOmyJBStTiMcG9y-~SLmFXi/NOdaZ/TgJvgggoQ==">
            <a:extLst>
              <a:ext uri="{FF2B5EF4-FFF2-40B4-BE49-F238E27FC236}">
                <a16:creationId xmlns:a16="http://schemas.microsoft.com/office/drawing/2014/main" id="{6FB4A647-9163-43EF-8E65-FD1815EC546B}"/>
              </a:ext>
            </a:extLst>
          </p:cNvPr>
          <p:cNvSpPr/>
          <p:nvPr/>
        </p:nvSpPr>
        <p:spPr>
          <a:xfrm>
            <a:off x="1091514" y="2209800"/>
            <a:ext cx="3505199" cy="3406966"/>
          </a:xfrm>
          <a:prstGeom prst="roundRect">
            <a:avLst/>
          </a:prstGeom>
          <a:gradFill>
            <a:gsLst>
              <a:gs pos="0">
                <a:schemeClr val="tx2">
                  <a:lumMod val="75000"/>
                  <a:lumOff val="25000"/>
                </a:schemeClr>
              </a:gs>
              <a:gs pos="50000">
                <a:schemeClr val="dk1">
                  <a:satMod val="110000"/>
                  <a:lumMod val="100000"/>
                  <a:shade val="100000"/>
                </a:schemeClr>
              </a:gs>
              <a:gs pos="100000">
                <a:schemeClr val="dk1">
                  <a:lumMod val="99000"/>
                  <a:satMod val="120000"/>
                  <a:shade val="78000"/>
                </a:schemeClr>
              </a:gs>
            </a:gsLst>
          </a:gra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chemeClr val="bg1"/>
                </a:solidFill>
              </a:rPr>
              <a:t>85%</a:t>
            </a:r>
          </a:p>
        </p:txBody>
      </p:sp>
    </p:spTree>
    <p:extLst>
      <p:ext uri="{BB962C8B-B14F-4D97-AF65-F5344CB8AC3E}">
        <p14:creationId xmlns:p14="http://schemas.microsoft.com/office/powerpoint/2010/main" val="308644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6" presetClass="emph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25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25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2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62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</p:bld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 descr="P3QT94KcBLVf9khUy99i8gmmW4UXKfFD+eSqNkDdUwWYMZM1BLjus//WvxYem8uKrp+O+CYPSNi+GpOuVggm6i9boDqkjlY7-~n7AxD7t4O1aPI3XiGlmNxw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KEp9NgQnGQdC6JGzMRo4SkZOAlsnfcWmBiB6R6/6t46wrgDSp+nl5vx4br0SHmcDN0AXBpNbS3Abnuj/1aUTnQnfS2JU7J7c-~pAbemRYrSRO4bdjImu6/Nw=="/>
          <p:cNvSpPr>
            <a:spLocks noGrp="1"/>
          </p:cNvSpPr>
          <p:nvPr>
            <p:ph type="title"/>
          </p:nvPr>
        </p:nvSpPr>
        <p:spPr>
          <a:xfrm>
            <a:off x="685800" y="152400"/>
            <a:ext cx="1005840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What are the Risk Factors? </a:t>
            </a:r>
          </a:p>
        </p:txBody>
      </p:sp>
      <p:sp>
        <p:nvSpPr>
          <p:cNvPr id="20" name="Frame 20"/>
          <p:cNvSpPr/>
          <p:nvPr/>
        </p:nvSpPr>
        <p:spPr>
          <a:xfrm>
            <a:off x="1371600" y="1371600"/>
            <a:ext cx="3474720" cy="640080"/>
          </a:xfrm>
          <a:prstGeom prst="frame">
            <a:avLst>
              <a:gd name="adj1" fmla="val 625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Family history of heart disease</a:t>
            </a:r>
          </a:p>
        </p:txBody>
      </p:sp>
      <p:sp>
        <p:nvSpPr>
          <p:cNvPr id="21" name="Frame 21"/>
          <p:cNvSpPr/>
          <p:nvPr/>
        </p:nvSpPr>
        <p:spPr>
          <a:xfrm>
            <a:off x="1371600" y="2057400"/>
            <a:ext cx="3474720" cy="640080"/>
          </a:xfrm>
          <a:prstGeom prst="frame">
            <a:avLst>
              <a:gd name="adj1" fmla="val 625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High blood pressure</a:t>
            </a:r>
          </a:p>
        </p:txBody>
      </p:sp>
      <p:sp>
        <p:nvSpPr>
          <p:cNvPr id="22" name="Frame 22"/>
          <p:cNvSpPr/>
          <p:nvPr/>
        </p:nvSpPr>
        <p:spPr>
          <a:xfrm>
            <a:off x="1371600" y="2743200"/>
            <a:ext cx="3474720" cy="640080"/>
          </a:xfrm>
          <a:prstGeom prst="frame">
            <a:avLst>
              <a:gd name="adj1" fmla="val 625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Overweight or obese</a:t>
            </a:r>
          </a:p>
        </p:txBody>
      </p:sp>
      <p:sp>
        <p:nvSpPr>
          <p:cNvPr id="23" name="Frame 23"/>
          <p:cNvSpPr/>
          <p:nvPr/>
        </p:nvSpPr>
        <p:spPr>
          <a:xfrm>
            <a:off x="1371600" y="3429000"/>
            <a:ext cx="3474720" cy="640080"/>
          </a:xfrm>
          <a:prstGeom prst="frame">
            <a:avLst>
              <a:gd name="adj1" fmla="val 625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Lack of exercise</a:t>
            </a:r>
          </a:p>
        </p:txBody>
      </p:sp>
      <p:sp>
        <p:nvSpPr>
          <p:cNvPr id="24" name="Frame 24"/>
          <p:cNvSpPr/>
          <p:nvPr/>
        </p:nvSpPr>
        <p:spPr>
          <a:xfrm>
            <a:off x="1371600" y="4114800"/>
            <a:ext cx="3474720" cy="640080"/>
          </a:xfrm>
          <a:prstGeom prst="frame">
            <a:avLst>
              <a:gd name="adj1" fmla="val 625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 of tobacco products</a:t>
            </a:r>
          </a:p>
        </p:txBody>
      </p:sp>
      <p:sp>
        <p:nvSpPr>
          <p:cNvPr id="25" name="Frame 25"/>
          <p:cNvSpPr/>
          <p:nvPr/>
        </p:nvSpPr>
        <p:spPr>
          <a:xfrm>
            <a:off x="1371600" y="4800600"/>
            <a:ext cx="3474720" cy="640080"/>
          </a:xfrm>
          <a:prstGeom prst="frame">
            <a:avLst>
              <a:gd name="adj1" fmla="val 625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Diabetes or other diseases</a:t>
            </a:r>
          </a:p>
        </p:txBody>
      </p:sp>
      <p:sp>
        <p:nvSpPr>
          <p:cNvPr id="26" name="Frame 26"/>
          <p:cNvSpPr/>
          <p:nvPr/>
        </p:nvSpPr>
        <p:spPr>
          <a:xfrm>
            <a:off x="1371600" y="5486400"/>
            <a:ext cx="3474720" cy="640080"/>
          </a:xfrm>
          <a:prstGeom prst="frame">
            <a:avLst>
              <a:gd name="adj1" fmla="val 625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 women, use of birth control pills</a:t>
            </a:r>
          </a:p>
        </p:txBody>
      </p:sp>
    </p:spTree>
    <p:extLst>
      <p:ext uri="{BB962C8B-B14F-4D97-AF65-F5344CB8AC3E}">
        <p14:creationId val="154862633"/>
      </p:ext>
    </p:extLst>
  </p:cSld>
  <p:clrMapOvr>
    <a:masterClrMapping/>
  </p:clrMapOvr>
  <mc:AlternateContent>
    <mc:Choice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 descr="vkgAdqODvjJ1NbpgcsU0e+eyt/cYhTdExm5152cj86MXwIoLPh7BVeOTDRs55dDCDksv7RpCirmB/NmHI4eBhJBG2dUlYe7i-~gmt5UKCeJ/T2N6CVq35hZQ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mYaM/45rUqUVcVQF7sy25WcucRG4mqa8gmDC4lI6uHPdC7MZmFi7w8CVnpq0DGBaQsO6Tg84oPO/1BF2fApAun1YasJlh+Pf-~IDphhr+5bgDREtxCIlcBKw==">
            <a:extLst>
              <a:ext uri="{FF2B5EF4-FFF2-40B4-BE49-F238E27FC236}">
                <ns2:creationId id="{D13F1184-3EEE-47AE-908E-E48A86A7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221"/>
            <a:ext cx="10058400" cy="1272380"/>
          </a:xfrm>
        </p:spPr>
        <p:txBody>
          <a:bodyPr/>
          <a:lstStyle/>
          <a:p>
            <a:r>
              <a:rPr lang="en-US" dirty="0"/>
              <a:t>Coronary Heart Disease</a:t>
            </a:r>
            <a:br>
              <a:rPr lang="en-US" dirty="0"/>
            </a:br>
            <a:r>
              <a:rPr lang="en-US" sz="2400" dirty="0"/>
              <a:t>American </a:t>
            </a:r>
            <a:r>
              <a:rPr lang="en-US" sz="2400"/>
              <a:t>Heart Association Data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1188720" y="1737360"/>
          <a:ext cx="8321040" cy="4114800"/>
        </p:xfrm>
        <a:graphic>
          <a:graphicData uri="http://schemas.openxmlformats.org/presentationml/2006/ole">
            <p:oleObj spid="_x0000_s1026" name="Worksheet" r:id="rId2" imgW="8321040" imgH="4114800" progId="Excel.Sheet.12">
              <p:embed/>
            </p:oleObj>
          </a:graphicData>
        </a:graphic>
      </p:graphicFrame>
    </p:spTree>
    <p:extLst>
      <p:ext uri="{BB962C8B-B14F-4D97-AF65-F5344CB8AC3E}">
        <p14:creationId val="1513254418"/>
      </p:ext>
    </p:extLst>
  </p:cSld>
  <p:clrMapOvr>
    <a:masterClrMapping/>
  </p:clrMapOvr>
  <mc:AlternateContent>
    <mc:Choice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LkZwZvr6I90VGTcyMRsjbjx+BDV/zyM7ZrxXKR2qr2M3wgU8L4/Ebb26fE2IOB3UGwFrrDnWTZixYbq6gGzebQB++L9oOiW2-~d8XT8MqvxwmJCb7+DmTvmA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eHjOD30RRKMINxbfF/ynpagfbS+u2qMUzRA9uHWAPOSrL8rwCabW3O8HG++BLp53cvD7kFfzDpuPDOpaktEN/Gzld6ye1Jik-~fiPwdDijs4fcEoV3nX6Wxg=="/>
          <p:cNvSpPr>
            <a:spLocks noGrp="1"/>
          </p:cNvSpPr>
          <p:nvPr>
            <p:ph type="title"/>
          </p:nvPr>
        </p:nvSpPr>
        <p:spPr>
          <a:xfrm>
            <a:off x="2590800" y="2030993"/>
            <a:ext cx="7772400" cy="1424780"/>
          </a:xfrm>
        </p:spPr>
        <p:txBody>
          <a:bodyPr>
            <a:normAutofit/>
          </a:bodyPr>
          <a:lstStyle/>
          <a:p>
            <a:r>
              <a:rPr lang="en-US" sz="8800" dirty="0"/>
              <a:t>Men vs Women</a:t>
            </a:r>
          </a:p>
        </p:txBody>
      </p:sp>
      <p:sp>
        <p:nvSpPr>
          <p:cNvPr id="3" name="Content Placeholder 2" descr="Lh5W1sm5ljWZzUFPkob+lSPjXdnSMkIkXe48G0Gw58TbxuQE4igezRlZLYdBKkpYEegMgDHZ4zS8lIlMEBv4UjUcXBV8ayGp-~X3kd9FG3qrS4m5YAu7Eckw=="/>
          <p:cNvSpPr>
            <a:spLocks noGrp="1"/>
          </p:cNvSpPr>
          <p:nvPr>
            <p:ph type="body" idx="1"/>
          </p:nvPr>
        </p:nvSpPr>
        <p:spPr>
          <a:xfrm>
            <a:off x="2133600" y="3657600"/>
            <a:ext cx="7772400" cy="685800"/>
          </a:xfrm>
        </p:spPr>
        <p:txBody>
          <a:bodyPr/>
          <a:lstStyle/>
          <a:p>
            <a:pPr algn="ctr"/>
            <a:r>
              <a:rPr lang="en-US" sz="4000" cap="none" dirty="0"/>
              <a:t>What is the difference?</a:t>
            </a:r>
          </a:p>
          <a:p>
            <a:endParaRPr lang="en-US" dirty="0"/>
          </a:p>
        </p:txBody>
      </p:sp>
      <p:cxnSp>
        <p:nvCxnSpPr>
          <p:cNvPr id="7" name="Straight Connector 6" descr="yHqv5FQIbE+Wj3MX553nyu6UeT7xJS8/bqjUGRNxyHdT5Hp1Jzpf3qbSfTWfJIKhto24IqtErdDldcHcPHwenttmg2TQcFX4-~asVCu/HHVBHcsBroPdPAlg==">
            <a:extLst>
              <a:ext uri="{FF2B5EF4-FFF2-40B4-BE49-F238E27FC236}">
                <a16:creationId xmlns:a16="http://schemas.microsoft.com/office/drawing/2014/main" id="{FBB6C63E-46C5-4F40-B183-DA0369342161}"/>
              </a:ext>
            </a:extLst>
          </p:cNvPr>
          <p:cNvCxnSpPr/>
          <p:nvPr/>
        </p:nvCxnSpPr>
        <p:spPr>
          <a:xfrm>
            <a:off x="838200" y="3480487"/>
            <a:ext cx="10134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42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 descr="n840mhdHiNEpaC//d7KdcIHZxM38pwqqDM0FQPrSr4pg4e5N+XeBX1xeZR9g6rHOu7FWGtr8mWakId90suilnBEqPDZb8Xwk-~DMj2RpydKKViu0WEqj/W/A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mn9g5fDxDK3pS6LlM2RPFDE9X7UEKAcP89pwre61O94UmTniw6dqbzwkf9KLp2rPFmogEPQPWHHAVW4ou8E+XpGdxNp5nKq-~qzZHf/ImQyGoGVMuVLXjlA==">
            <a:extLst>
              <a:ext uri="{FF2B5EF4-FFF2-40B4-BE49-F238E27FC236}">
                <ns2:creationId id="{37D2E7EA-A6D0-4B38-B423-28A54005A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Heart Attack Warning Signs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ph idx="1"/>
          </p:nvPr>
        </p:nvGraphicFramePr>
        <p:xfrm>
          <a:off x="1005840" y="1463040"/>
          <a:ext cx="914400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4720"/>
                <a:gridCol w="2194560"/>
                <a:gridCol w="347472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Women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Chest pain/discomfort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Chest pressure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Rapid or irregular heartbeat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Fatigue for several days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Dizzy or light-headed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Anxiety and sleep disturbances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Cold sweat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Back, neck, arm, or jaw pain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Stomach discomfort/indigestion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Nausea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Shortness of breath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Shortness of breath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val="2475529369"/>
      </p:ext>
    </p:extLst>
  </p:cSld>
  <p:clrMapOvr>
    <a:masterClrMapping/>
  </p:clrMapOvr>
  <mc:AlternateContent>
    <mc:Choice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Zi8SR05obnN8LCyMmM/PncGi0fuffN3CvvHCuMDiez/OOBrgxh5O3WNLztu7CfPgemKNlouPBNVZw3WMXSDtZDdyHjlbfkpn-~CplvzKLw1S2JXhmgRyT9ZQ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descr="VmKmJWWmZgcDjdEGjkgfTEOcRPkJ13hqlf9QwJ5wRTwokwz0s2swrDh4S/97ZulW/upPS635LgKwNeQzB8rLjFh/myyIgZnT-~K7NbqqkDhO+RjlC3KN3oLA=="/>
          <p:cNvSpPr>
            <a:spLocks noGrp="1"/>
          </p:cNvSpPr>
          <p:nvPr>
            <p:ph type="title"/>
          </p:nvPr>
        </p:nvSpPr>
        <p:spPr>
          <a:xfrm>
            <a:off x="762000" y="152400"/>
            <a:ext cx="100584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Why Does it Matter?</a:t>
            </a:r>
          </a:p>
        </p:txBody>
      </p:sp>
      <p:sp>
        <p:nvSpPr>
          <p:cNvPr id="5" name="Content Placeholder 4" descr="plVz+02KIhirRpXbp9O0HO3yYAsQQ2o+IRFQJG4RE3F8RpWuTNQtOfUhD0lq6sOnCYd4oPRswPGpFZoC9uy1W9FUO0eqKrS0-~67Yvr1K7o0R2Ef2iqsuFbg=="/>
          <p:cNvSpPr>
            <a:spLocks noGrp="1"/>
          </p:cNvSpPr>
          <p:nvPr>
            <p:ph idx="1"/>
          </p:nvPr>
        </p:nvSpPr>
        <p:spPr>
          <a:xfrm>
            <a:off x="-1" y="1752600"/>
            <a:ext cx="5088513" cy="5105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Women are </a:t>
            </a: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less likely</a:t>
            </a:r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seek immediate medical care and are </a:t>
            </a: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more likely </a:t>
            </a:r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</a:t>
            </a:r>
            <a:r>
              <a:rPr lang="en-US" sz="8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die!</a:t>
            </a:r>
            <a:endParaRPr lang="en-US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28600" lvl="1" indent="0">
              <a:buNone/>
            </a:pPr>
            <a:endParaRPr lang="en-US" sz="2800" dirty="0"/>
          </a:p>
        </p:txBody>
      </p:sp>
      <p:pic>
        <p:nvPicPr>
          <p:cNvPr id="3" name="Picture 2#@#scgPtAmUo9v6Z+V3BzHuI6805+KUIGIBiBPJp1ahm3ea54lTTC/yAdiRC24mRJpQFXm7oseW/BSgAqEdJ4EAdj2KwO3le23/-~JMlDvtSWSsslfj3Oe9I0Yg==" descr="">
            <a:extLst>
              <a:ext uri="{FF2B5EF4-FFF2-40B4-BE49-F238E27FC236}">
                <a16:creationId xmlns:a16="http://schemas.microsoft.com/office/drawing/2014/main" id="{46B493F5-1844-465D-91A4-2B4891078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513" y="1524000"/>
            <a:ext cx="7117903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Medical Design 16x9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41C02F-CE31-4D87-A3BA-12709000A4A7}">
  <we:reference id="wa104178141" version="3.10.0.52" store="en-US" storeType="OMEX"/>
  <we:alternateReferences>
    <we:reference id="wa104178141" version="3.10.0.52" store="en-US" storeType="OMEX"/>
  </we:alternateReferences>
  <we:properties/>
  <we:bindings/>
  <we:snapshot xmlns:r="http://schemas.openxmlformats.org/officeDocument/2006/relationships"/>
</we:webextension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1.xml" Id="Ra16fbd47205140b9" /></Relationships>
</file>

<file path=customXml/item.xml><?xml version="1.0" encoding="utf-8"?>
<project>
  <id>cLjhEWT2f7tniQPuZFmk05LZtRHgtPOecSlBRI2zomlpc8B2fbWIpHRbU7Spn2oVHUwA6fEbcJz2Wu2f4BJ5AkewXWF6tSVq-~g+TSLdT9zcAVHcJeK/1HFQ==#@#11012702#@#4/13/2021 12:37:26 AM</id>
</project>
</file>

<file path=customXml/itemProps1.xml><?xml version="1.0" encoding="utf-8"?>
<ds:datastoreItem xmlns:ds="http://schemas.openxmlformats.org/officedocument/2006/2/customXml" ds:itemID="{C66AC4F1-97D3-4D10-8D07-51E6CC79AD91}">
  <ds:schemaRefs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573</TotalTime>
  <Words>76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Franklin Gothic Medium</vt:lpstr>
      <vt:lpstr>Medical Design 16x9</vt:lpstr>
      <vt:lpstr>Know the Warning Signs</vt:lpstr>
      <vt:lpstr>Did You Know?</vt:lpstr>
      <vt:lpstr>What are the Risk Factors? </vt:lpstr>
      <vt:lpstr>Coronary Heart Disease American Heart Association Data</vt:lpstr>
      <vt:lpstr>Men vs Women</vt:lpstr>
      <vt:lpstr>Heart Attack Warning Signs</vt:lpstr>
      <vt:lpstr>Why Does it Matter?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Exploring Series</dc:creator>
  <cp:lastModifiedBy>Diane Kosharek</cp:lastModifiedBy>
  <cp:revision>24</cp:revision>
  <dcterms:created xsi:type="dcterms:W3CDTF">2018-04-07T16:44:22Z</dcterms:created>
  <dcterms:modified xsi:type="dcterms:W3CDTF">2021-04-13T00:37:26Z</dcterms:modified>
</cp:coreProperties>
</file>